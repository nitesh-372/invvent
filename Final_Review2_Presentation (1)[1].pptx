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559" r:id="rId3"/>
    <p:sldId id="257" r:id="rId5"/>
    <p:sldId id="560" r:id="rId6"/>
    <p:sldId id="561" r:id="rId7"/>
    <p:sldId id="562" r:id="rId8"/>
    <p:sldId id="563" r:id="rId9"/>
    <p:sldId id="564" r:id="rId10"/>
    <p:sldId id="565" r:id="rId11"/>
    <p:sldId id="566" r:id="rId12"/>
    <p:sldId id="262" r:id="rId13"/>
    <p:sldId id="263" r:id="rId14"/>
  </p:sldIdLst>
  <p:sldSz cx="9144000" cy="6858000" type="screen4x3"/>
  <p:notesSz cx="7010400" cy="9296400"/>
  <p:embeddedFontLst>
    <p:embeddedFont>
      <p:font typeface="Verdana" panose="020B0604030504040204"/>
      <p:regular r:id="rId18"/>
    </p:embeddedFont>
    <p:embeddedFont>
      <p:font typeface="Calibri Light" panose="020F0302020204030204" charset="0"/>
      <p:regular r:id="rId19"/>
      <p:italic r:id="rId20"/>
    </p:embeddedFont>
    <p:embeddedFont>
      <p:font typeface="Calibri" panose="020F050202020403020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156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font" Target="fonts/font7.fntdata"/><Relationship Id="rId23" Type="http://schemas.openxmlformats.org/officeDocument/2006/relationships/font" Target="fonts/font6.fntdata"/><Relationship Id="rId22" Type="http://schemas.openxmlformats.org/officeDocument/2006/relationships/font" Target="fonts/font5.fntdata"/><Relationship Id="rId21" Type="http://schemas.openxmlformats.org/officeDocument/2006/relationships/font" Target="fonts/font4.fntdata"/><Relationship Id="rId20" Type="http://schemas.openxmlformats.org/officeDocument/2006/relationships/font" Target="fonts/font3.fntdata"/><Relationship Id="rId2" Type="http://schemas.openxmlformats.org/officeDocument/2006/relationships/theme" Target="theme/theme1.xml"/><Relationship Id="rId19" Type="http://schemas.openxmlformats.org/officeDocument/2006/relationships/font" Target="fonts/font2.fntdata"/><Relationship Id="rId18" Type="http://schemas.openxmlformats.org/officeDocument/2006/relationships/font" Target="fonts/font1.fntdata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1"/>
            <a:ext cx="3049199" cy="472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81" tIns="47078" rIns="94181" bIns="47078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 panose="020B0604030504040204"/>
              <a:buNone/>
              <a:defRPr sz="1800" b="0" i="0" u="none" strike="noStrike" cap="non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 panose="020B0604030504040204"/>
              <a:buNone/>
              <a:defRPr sz="1800" b="0" i="0" u="none" strike="noStrike" cap="non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 panose="020B0604030504040204"/>
              <a:buNone/>
              <a:defRPr sz="1800" b="0" i="0" u="none" strike="noStrike" cap="non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 panose="020B0604030504040204"/>
              <a:buNone/>
              <a:defRPr sz="1800" b="0" i="0" u="none" strike="noStrike" cap="non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 panose="020B0604030504040204"/>
              <a:buNone/>
              <a:defRPr sz="1800" b="0" i="0" u="none" strike="noStrike" cap="non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 panose="020B0604030504040204"/>
              <a:buNone/>
              <a:defRPr sz="1800" b="0" i="0" u="none" strike="noStrike" cap="non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 panose="020B0604030504040204"/>
              <a:buNone/>
              <a:defRPr sz="1800" b="0" i="0" u="none" strike="noStrike" cap="non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 panose="020B0604030504040204"/>
              <a:buNone/>
              <a:defRPr sz="1800" b="0" i="0" u="none" strike="noStrike" cap="non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 panose="020B0604030504040204"/>
              <a:buNone/>
              <a:defRPr sz="1800" b="0" i="0" u="none" strike="noStrike" cap="non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/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83919" y="1"/>
            <a:ext cx="3049199" cy="472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81" tIns="47078" rIns="94181" bIns="47078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 panose="020B0604030504040204"/>
              <a:buNone/>
              <a:defRPr sz="1800" b="0" i="0" u="none" strike="noStrike" cap="non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 panose="020B0604030504040204"/>
              <a:buNone/>
              <a:defRPr sz="1800" b="0" i="0" u="none" strike="noStrike" cap="non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 panose="020B0604030504040204"/>
              <a:buNone/>
              <a:defRPr sz="1800" b="0" i="0" u="none" strike="noStrike" cap="non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 panose="020B0604030504040204"/>
              <a:buNone/>
              <a:defRPr sz="1800" b="0" i="0" u="none" strike="noStrike" cap="non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 panose="020B0604030504040204"/>
              <a:buNone/>
              <a:defRPr sz="1800" b="0" i="0" u="none" strike="noStrike" cap="non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 panose="020B0604030504040204"/>
              <a:buNone/>
              <a:defRPr sz="1800" b="0" i="0" u="none" strike="noStrike" cap="non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 panose="020B0604030504040204"/>
              <a:buNone/>
              <a:defRPr sz="1800" b="0" i="0" u="none" strike="noStrike" cap="non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 panose="020B0604030504040204"/>
              <a:buNone/>
              <a:defRPr sz="1800" b="0" i="0" u="none" strike="noStrike" cap="non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 panose="020B0604030504040204"/>
              <a:buNone/>
              <a:defRPr sz="1800" b="0" i="0" u="none" strike="noStrike" cap="non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/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55700" y="708025"/>
            <a:ext cx="4725988" cy="3544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4286" y="4490032"/>
            <a:ext cx="5627793" cy="4252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81" tIns="47078" rIns="94181" bIns="47078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976837"/>
            <a:ext cx="3049199" cy="472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81" tIns="47078" rIns="94181" bIns="47078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 panose="020B0604030504040204"/>
              <a:buNone/>
              <a:defRPr sz="1800" b="0" i="0" u="none" strike="noStrike" cap="non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 panose="020B0604030504040204"/>
              <a:buNone/>
              <a:defRPr sz="1800" b="0" i="0" u="none" strike="noStrike" cap="non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 panose="020B0604030504040204"/>
              <a:buNone/>
              <a:defRPr sz="1800" b="0" i="0" u="none" strike="noStrike" cap="non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 panose="020B0604030504040204"/>
              <a:buNone/>
              <a:defRPr sz="1800" b="0" i="0" u="none" strike="noStrike" cap="non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 panose="020B0604030504040204"/>
              <a:buNone/>
              <a:defRPr sz="1800" b="0" i="0" u="none" strike="noStrike" cap="non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 panose="020B0604030504040204"/>
              <a:buNone/>
              <a:defRPr sz="1800" b="0" i="0" u="none" strike="noStrike" cap="non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 panose="020B0604030504040204"/>
              <a:buNone/>
              <a:defRPr sz="1800" b="0" i="0" u="none" strike="noStrike" cap="non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 panose="020B0604030504040204"/>
              <a:buNone/>
              <a:defRPr sz="1800" b="0" i="0" u="none" strike="noStrike" cap="non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 panose="020B0604030504040204"/>
              <a:buNone/>
              <a:defRPr sz="1800" b="0" i="0" u="none" strike="noStrike" cap="non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/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83919" y="8976837"/>
            <a:ext cx="3049199" cy="472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81" tIns="47078" rIns="94181" bIns="47078" anchor="b" anchorCtr="0">
            <a:noAutofit/>
          </a:bodyPr>
          <a:lstStyle/>
          <a:p>
            <a:pPr algn="r">
              <a:buSzPts val="1200"/>
            </a:pPr>
            <a:fld id="{00000000-1234-1234-1234-123412341234}" type="slidenum">
              <a:rPr lang="en-US" sz="1200" smtClean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fld>
            <a:endParaRPr lang="en-US" sz="1800">
              <a:solidFill>
                <a:schemeClr val="dk1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56" name="Google Shape;5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78e6671419f8a2a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78e6671419f8a2a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6" name="Google Shape;66;g78e6671419f8a2a0_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78e6671419f8a2a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78e6671419f8a2a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8" name="Google Shape;98;g78e6671419f8a2a0_4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03" name="Google Shape;10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41"/>
          <p:cNvSpPr txBox="1">
            <a:spLocks noGrp="1"/>
          </p:cNvSpPr>
          <p:nvPr>
            <p:ph type="title"/>
          </p:nvPr>
        </p:nvSpPr>
        <p:spPr>
          <a:xfrm>
            <a:off x="685802" y="609600"/>
            <a:ext cx="7770813" cy="1141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43"/>
          <p:cNvSpPr txBox="1">
            <a:spLocks noGrp="1"/>
          </p:cNvSpPr>
          <p:nvPr>
            <p:ph type="title"/>
          </p:nvPr>
        </p:nvSpPr>
        <p:spPr>
          <a:xfrm>
            <a:off x="391725" y="1035333"/>
            <a:ext cx="85206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143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143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9" name="Google Shape;39;p143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4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144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144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5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6" name="Google Shape;46;p145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46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9" name="Google Shape;49;p146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0" name="Google Shape;50;p146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1" name="Google Shape;51;p146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46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7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47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8"/>
          <p:cNvSpPr txBox="1">
            <a:spLocks noGrp="1"/>
          </p:cNvSpPr>
          <p:nvPr>
            <p:ph type="title"/>
          </p:nvPr>
        </p:nvSpPr>
        <p:spPr>
          <a:xfrm>
            <a:off x="311700" y="1474833"/>
            <a:ext cx="8520600" cy="2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58" name="Google Shape;58;p148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48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>
  <p:cSld name="2_Title Slide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0"/>
          <p:cNvSpPr txBox="1">
            <a:spLocks noGrp="1"/>
          </p:cNvSpPr>
          <p:nvPr>
            <p:ph type="ctrTitle"/>
          </p:nvPr>
        </p:nvSpPr>
        <p:spPr>
          <a:xfrm>
            <a:off x="3609212" y="2875889"/>
            <a:ext cx="192557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 b="1" i="0">
                <a:solidFill>
                  <a:srgbClr val="58585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50"/>
          <p:cNvSpPr txBox="1">
            <a:spLocks noGrp="1"/>
          </p:cNvSpPr>
          <p:nvPr>
            <p:ph type="subTitle" idx="1"/>
          </p:nvPr>
        </p:nvSpPr>
        <p:spPr>
          <a:xfrm>
            <a:off x="1357629" y="3906452"/>
            <a:ext cx="642874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2700" b="1" i="0">
                <a:solidFill>
                  <a:srgbClr val="58585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50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66" name="Google Shape;66;p150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67" name="Google Shape;67;p150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12700" marR="0" lvl="0" indent="0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12700" marR="0" lvl="1" indent="0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2700" marR="0" lvl="2" indent="0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2700" marR="0" lvl="3" indent="0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12700" marR="0" lvl="4" indent="0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12700" marR="0" lvl="5" indent="0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12700" marR="0" lvl="6" indent="0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12700" marR="0" lvl="7" indent="0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12700" marR="0" lvl="8" indent="0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1270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9- </a:t>
            </a: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2e7d39ed9c0_0_4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75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image" Target="../media/image2.png"/><Relationship Id="rId10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0"/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5"/>
          <p:cNvSpPr txBox="1">
            <a:spLocks noGrp="1"/>
          </p:cNvSpPr>
          <p:nvPr>
            <p:ph type="title"/>
          </p:nvPr>
        </p:nvSpPr>
        <p:spPr>
          <a:xfrm>
            <a:off x="391725" y="1035333"/>
            <a:ext cx="85206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1" name="Google Shape;11;p125"/>
          <p:cNvSpPr txBox="1">
            <a:spLocks noGrp="1"/>
          </p:cNvSpPr>
          <p:nvPr>
            <p:ph type="body" idx="1"/>
          </p:nvPr>
        </p:nvSpPr>
        <p:spPr>
          <a:xfrm>
            <a:off x="311700" y="2009067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Char char="●"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2" name="Google Shape;12;p125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13" name="Google Shape;13;p125"/>
          <p:cNvPicPr preferRelativeResize="0"/>
          <p:nvPr/>
        </p:nvPicPr>
        <p:blipFill rotWithShape="1">
          <a:blip r:embed="rId11"/>
          <a:srcRect/>
          <a:stretch>
            <a:fillRect/>
          </a:stretch>
        </p:blipFill>
        <p:spPr>
          <a:xfrm>
            <a:off x="216001" y="288000"/>
            <a:ext cx="2255043" cy="8640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"/>
          <p:cNvSpPr txBox="1"/>
          <p:nvPr/>
        </p:nvSpPr>
        <p:spPr>
          <a:xfrm>
            <a:off x="573525" y="1091100"/>
            <a:ext cx="7996950" cy="992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>
              <a:buSzPts val="2000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RV Institute of Technology and Management</a:t>
            </a:r>
            <a:endParaRPr lang="en-US" sz="24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ctr">
              <a:buSzPts val="2000"/>
            </a:pPr>
            <a:r>
              <a:rPr lang="en-GB" sz="18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Computer Science and Engineering</a:t>
            </a:r>
            <a:endParaRPr sz="1800" dirty="0">
              <a:solidFill>
                <a:schemeClr val="dk1"/>
              </a:solidFill>
            </a:endParaRPr>
          </a:p>
          <a:p>
            <a:pPr algn="ctr">
              <a:buSzPts val="1600"/>
            </a:pPr>
            <a:r>
              <a:rPr lang="en-GB" sz="18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JP Nagar, </a:t>
            </a:r>
            <a:r>
              <a:rPr lang="en-GB" sz="18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Kothanur</a:t>
            </a:r>
            <a:r>
              <a:rPr lang="en-GB" sz="18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, Bengaluru - 560076</a:t>
            </a:r>
            <a:endParaRPr sz="18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59" name="Google Shape;59;p1"/>
          <p:cNvSpPr txBox="1"/>
          <p:nvPr/>
        </p:nvSpPr>
        <p:spPr>
          <a:xfrm>
            <a:off x="2031131" y="3274370"/>
            <a:ext cx="5441625" cy="1089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spAutoFit/>
          </a:bodyPr>
          <a:lstStyle/>
          <a:p>
            <a:pPr algn="ctr"/>
            <a:r>
              <a:rPr lang="en-GB" sz="2400" dirty="0">
                <a:solidFill>
                  <a:schemeClr val="dk1"/>
                </a:solidFill>
              </a:rPr>
              <a:t> </a:t>
            </a:r>
            <a:r>
              <a:rPr lang="en-GB" sz="21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Academic year 2025 – 2026 Odd (5th) semester</a:t>
            </a:r>
            <a:r>
              <a:rPr lang="en-GB" sz="24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sz="24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ctr">
              <a:lnSpc>
                <a:spcPct val="90000"/>
              </a:lnSpc>
            </a:pPr>
            <a:r>
              <a:rPr lang="en-GB" sz="24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Mini Project (</a:t>
            </a:r>
            <a:r>
              <a:rPr lang="en-IN" sz="2400" dirty="0"/>
              <a:t>BCS586</a:t>
            </a:r>
            <a:r>
              <a:rPr lang="en-GB" sz="24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) </a:t>
            </a:r>
            <a:endParaRPr sz="105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ctr">
              <a:lnSpc>
                <a:spcPct val="90000"/>
              </a:lnSpc>
            </a:pPr>
            <a:r>
              <a:rPr lang="en-GB" sz="18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Review II Presentation</a:t>
            </a:r>
            <a:endParaRPr sz="1050" dirty="0"/>
          </a:p>
        </p:txBody>
      </p:sp>
      <p:sp>
        <p:nvSpPr>
          <p:cNvPr id="60" name="Google Shape;60;p1"/>
          <p:cNvSpPr txBox="1"/>
          <p:nvPr/>
        </p:nvSpPr>
        <p:spPr>
          <a:xfrm>
            <a:off x="573525" y="2218725"/>
            <a:ext cx="7996950" cy="1210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>
              <a:lnSpc>
                <a:spcPct val="90000"/>
              </a:lnSpc>
              <a:buSzPts val="3200"/>
            </a:pPr>
            <a:endParaRPr lang="en-GB" sz="2400" b="1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ctr">
              <a:lnSpc>
                <a:spcPct val="90000"/>
              </a:lnSpc>
              <a:buSzPts val="3200"/>
            </a:pPr>
            <a:r>
              <a:rPr lang="en-GB" sz="24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PROJECT TITLE</a:t>
            </a:r>
            <a:endParaRPr sz="1050" b="1" dirty="0"/>
          </a:p>
        </p:txBody>
      </p:sp>
      <p:sp>
        <p:nvSpPr>
          <p:cNvPr id="61" name="Google Shape;61;p1"/>
          <p:cNvSpPr/>
          <p:nvPr/>
        </p:nvSpPr>
        <p:spPr>
          <a:xfrm>
            <a:off x="1483144" y="4556625"/>
            <a:ext cx="3268800" cy="10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GB" sz="1350" b="1" i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Presented by:</a:t>
            </a:r>
            <a:r>
              <a:rPr lang="en-GB" sz="135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sz="135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ctr">
              <a:lnSpc>
                <a:spcPct val="90000"/>
              </a:lnSpc>
            </a:pPr>
            <a:r>
              <a:rPr lang="en-GB" sz="135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</a:t>
            </a:r>
            <a:r>
              <a:rPr lang="en-IN" altLang="en-GB" sz="135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itesh Gupta</a:t>
            </a:r>
            <a:r>
              <a:rPr lang="en-GB" sz="135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- </a:t>
            </a:r>
            <a:r>
              <a:rPr lang="en-IN" altLang="en-GB" sz="135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1RF23CS104</a:t>
            </a:r>
            <a:endParaRPr sz="135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ctr">
              <a:lnSpc>
                <a:spcPct val="90000"/>
              </a:lnSpc>
            </a:pPr>
            <a:r>
              <a:rPr lang="en-IN" altLang="en-GB" sz="135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Pulkit Sardana</a:t>
            </a:r>
            <a:r>
              <a:rPr lang="en-GB" sz="135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- </a:t>
            </a:r>
            <a:r>
              <a:rPr lang="en-IN" altLang="en-GB" sz="135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1RF23CS118</a:t>
            </a:r>
            <a:endParaRPr sz="135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ctr">
              <a:lnSpc>
                <a:spcPct val="90000"/>
              </a:lnSpc>
            </a:pPr>
            <a:r>
              <a:rPr lang="en-IN" altLang="en-GB" sz="135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Shubham Kumar</a:t>
            </a:r>
            <a:r>
              <a:rPr lang="en-GB" sz="135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- </a:t>
            </a:r>
            <a:r>
              <a:rPr lang="en-IN" altLang="en-GB" sz="135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1RF23CS161</a:t>
            </a:r>
            <a:endParaRPr sz="135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62" name="Google Shape;62;p1"/>
          <p:cNvSpPr txBox="1"/>
          <p:nvPr/>
        </p:nvSpPr>
        <p:spPr>
          <a:xfrm>
            <a:off x="5141813" y="4588800"/>
            <a:ext cx="2428425" cy="945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GB" sz="1350" i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Under the Guidance of:</a:t>
            </a:r>
            <a:endParaRPr sz="1350" i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ctr">
              <a:lnSpc>
                <a:spcPct val="90000"/>
              </a:lnSpc>
            </a:pPr>
            <a:r>
              <a:rPr lang="en-IN" sz="1050"/>
              <a:t>Dr.Malini M Patil</a:t>
            </a:r>
            <a:endParaRPr sz="1050"/>
          </a:p>
          <a:p>
            <a:pPr algn="ctr">
              <a:lnSpc>
                <a:spcPct val="90000"/>
              </a:lnSpc>
            </a:pPr>
            <a:r>
              <a:rPr lang="en-IN" altLang="en-GB" sz="135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Professor</a:t>
            </a:r>
            <a:br>
              <a:rPr lang="en-GB" sz="135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en-GB" sz="135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Dept. of CS&amp;E</a:t>
            </a:r>
            <a:endParaRPr sz="135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ctr">
              <a:lnSpc>
                <a:spcPct val="90000"/>
              </a:lnSpc>
            </a:pPr>
            <a:r>
              <a:rPr lang="en-GB" sz="135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RVITM</a:t>
            </a:r>
            <a:endParaRPr sz="135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78e6671419f8a2a0_22"/>
          <p:cNvSpPr txBox="1"/>
          <p:nvPr/>
        </p:nvSpPr>
        <p:spPr>
          <a:xfrm>
            <a:off x="628650" y="515816"/>
            <a:ext cx="7886700" cy="890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Google Shape;69;g78e6671419f8a2a0_22"/>
          <p:cNvSpPr txBox="1"/>
          <p:nvPr/>
        </p:nvSpPr>
        <p:spPr>
          <a:xfrm>
            <a:off x="893884" y="1324708"/>
            <a:ext cx="78867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rmAutofit/>
          </a:bodyPr>
          <a:lstStyle/>
          <a:p>
            <a:pPr marL="3086100" lvl="8" indent="-257175">
              <a:lnSpc>
                <a:spcPct val="90000"/>
              </a:lnSpc>
              <a:spcBef>
                <a:spcPts val="375"/>
              </a:spcBef>
            </a:pPr>
            <a:r>
              <a:rPr lang="en-GB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</a:t>
            </a:r>
            <a:endParaRPr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42900">
              <a:lnSpc>
                <a:spcPct val="90000"/>
              </a:lnSpc>
              <a:spcBef>
                <a:spcPts val="1000"/>
              </a:spcBef>
              <a:buSzPts val="1800"/>
              <a:buFont typeface="Arial" panose="020B0604020202020204"/>
              <a:buChar char="•"/>
            </a:pPr>
            <a:r>
              <a:rPr lang="en-US" sz="1800" dirty="0">
                <a:solidFill>
                  <a:srgbClr val="595959"/>
                </a:solidFill>
              </a:rPr>
              <a:t>Abstract</a:t>
            </a:r>
            <a:endParaRPr lang="en-IN" sz="1800" dirty="0">
              <a:solidFill>
                <a:srgbClr val="595959"/>
              </a:solidFill>
            </a:endParaRPr>
          </a:p>
          <a:p>
            <a:pPr marL="457200" lvl="0" indent="-342900">
              <a:lnSpc>
                <a:spcPct val="90000"/>
              </a:lnSpc>
              <a:spcBef>
                <a:spcPts val="1000"/>
              </a:spcBef>
              <a:buSzPts val="1800"/>
              <a:buFont typeface="Arial" panose="020B0604020202020204"/>
              <a:buChar char="•"/>
            </a:pPr>
            <a:r>
              <a:rPr lang="en-US" sz="1800" dirty="0">
                <a:solidFill>
                  <a:srgbClr val="595959"/>
                </a:solidFill>
              </a:rPr>
              <a:t>Introduction</a:t>
            </a:r>
            <a:endParaRPr lang="en-IN" sz="1800" dirty="0">
              <a:solidFill>
                <a:srgbClr val="595959"/>
              </a:solidFill>
            </a:endParaRPr>
          </a:p>
          <a:p>
            <a:pPr marL="457200" lvl="0" indent="-342900">
              <a:lnSpc>
                <a:spcPct val="90000"/>
              </a:lnSpc>
              <a:spcBef>
                <a:spcPts val="1000"/>
              </a:spcBef>
              <a:buSzPts val="1800"/>
              <a:buFont typeface="Arial" panose="020B0604020202020204"/>
              <a:buChar char="•"/>
            </a:pPr>
            <a:r>
              <a:rPr lang="en-US" sz="1800" dirty="0">
                <a:solidFill>
                  <a:srgbClr val="595959"/>
                </a:solidFill>
              </a:rPr>
              <a:t>Objectives and Problem Statement</a:t>
            </a:r>
            <a:endParaRPr lang="en-IN" sz="1800" dirty="0">
              <a:solidFill>
                <a:srgbClr val="595959"/>
              </a:solidFill>
            </a:endParaRPr>
          </a:p>
          <a:p>
            <a:pPr marL="457200" lvl="0" indent="-342900">
              <a:lnSpc>
                <a:spcPct val="90000"/>
              </a:lnSpc>
              <a:spcBef>
                <a:spcPts val="1000"/>
              </a:spcBef>
              <a:buSzPts val="1800"/>
              <a:buFont typeface="Arial" panose="020B0604020202020204"/>
              <a:buChar char="•"/>
            </a:pPr>
            <a:r>
              <a:rPr lang="en-US" sz="1800" dirty="0">
                <a:solidFill>
                  <a:srgbClr val="595959"/>
                </a:solidFill>
              </a:rPr>
              <a:t>Proposed Model  - Methodology ( Architecture diagram)</a:t>
            </a:r>
            <a:endParaRPr lang="en-US" sz="1800" dirty="0">
              <a:solidFill>
                <a:srgbClr val="595959"/>
              </a:solidFill>
            </a:endParaRPr>
          </a:p>
          <a:p>
            <a:pPr marL="457200" lvl="0" indent="-342900">
              <a:lnSpc>
                <a:spcPct val="90000"/>
              </a:lnSpc>
              <a:spcBef>
                <a:spcPts val="1000"/>
              </a:spcBef>
              <a:buSzPts val="1800"/>
              <a:buFont typeface="Arial" panose="020B0604020202020204"/>
              <a:buChar char="•"/>
            </a:pPr>
            <a:r>
              <a:rPr lang="en-US" sz="1800" dirty="0">
                <a:solidFill>
                  <a:srgbClr val="595959"/>
                </a:solidFill>
              </a:rPr>
              <a:t>Implementation Details (Algorithm)</a:t>
            </a:r>
            <a:endParaRPr lang="en-US" sz="1800" dirty="0">
              <a:solidFill>
                <a:srgbClr val="595959"/>
              </a:solidFill>
            </a:endParaRPr>
          </a:p>
          <a:p>
            <a:pPr marL="457200" lvl="0" indent="-342900">
              <a:lnSpc>
                <a:spcPct val="90000"/>
              </a:lnSpc>
              <a:spcBef>
                <a:spcPts val="1000"/>
              </a:spcBef>
              <a:buSzPts val="1800"/>
              <a:buFont typeface="Arial" panose="020B0604020202020204"/>
              <a:buChar char="•"/>
            </a:pPr>
            <a:r>
              <a:rPr lang="en-US" sz="1800" dirty="0">
                <a:solidFill>
                  <a:srgbClr val="595959"/>
                </a:solidFill>
              </a:rPr>
              <a:t>Results </a:t>
            </a:r>
            <a:endParaRPr lang="en-US" sz="1800" dirty="0">
              <a:solidFill>
                <a:srgbClr val="595959"/>
              </a:solidFill>
            </a:endParaRPr>
          </a:p>
          <a:p>
            <a:pPr marL="457200" lvl="0" indent="-342900">
              <a:lnSpc>
                <a:spcPct val="90000"/>
              </a:lnSpc>
              <a:spcBef>
                <a:spcPts val="1000"/>
              </a:spcBef>
              <a:buSzPts val="1800"/>
              <a:buFont typeface="Arial" panose="020B0604020202020204"/>
              <a:buChar char="•"/>
            </a:pPr>
            <a:r>
              <a:rPr lang="en-US" sz="1800" dirty="0">
                <a:solidFill>
                  <a:srgbClr val="595959"/>
                </a:solidFill>
              </a:rPr>
              <a:t>Conclusion</a:t>
            </a:r>
            <a:endParaRPr lang="en-US" sz="1800" dirty="0">
              <a:solidFill>
                <a:srgbClr val="595959"/>
              </a:solidFill>
            </a:endParaRPr>
          </a:p>
          <a:p>
            <a:pPr marL="457200" lvl="0" indent="-342900">
              <a:lnSpc>
                <a:spcPct val="90000"/>
              </a:lnSpc>
              <a:spcBef>
                <a:spcPts val="1000"/>
              </a:spcBef>
              <a:buSzPts val="1800"/>
              <a:buFont typeface="Arial" panose="020B0604020202020204"/>
              <a:buChar char="•"/>
            </a:pPr>
            <a:r>
              <a:rPr lang="en-US" sz="1800" dirty="0">
                <a:solidFill>
                  <a:srgbClr val="595959"/>
                </a:solidFill>
              </a:rPr>
              <a:t>References</a:t>
            </a:r>
            <a:endParaRPr sz="18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3335" y="740165"/>
            <a:ext cx="2808000" cy="1007600"/>
          </a:xfrm>
        </p:spPr>
        <p:txBody>
          <a:bodyPr/>
          <a:lstStyle/>
          <a:p>
            <a:r>
              <a:rPr sz="2800" b="1"/>
              <a:t>Abstract</a:t>
            </a:r>
            <a:endParaRPr sz="2800" b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85" y="1852930"/>
            <a:ext cx="8407400" cy="4239260"/>
          </a:xfrm>
        </p:spPr>
        <p:txBody>
          <a:bodyPr>
            <a:noAutofit/>
          </a:bodyPr>
          <a:lstStyle/>
          <a:p/>
          <a:p>
            <a:r>
              <a:rPr sz="2400"/>
              <a:t>This project presents an E-commerce Recommendation System that provides personalized product suggestions using multiple machine learning approaches.</a:t>
            </a:r>
            <a:endParaRPr sz="2400"/>
          </a:p>
          <a:p>
            <a:r>
              <a:rPr sz="2400"/>
              <a:t>The model integrates similarity-based filtering using cosine similarity and, association rule mining using Apriori, and The system simulates industrial engines like Amazon and aims to deliver accurate, scalable, and dynamic product suggestions.</a:t>
            </a:r>
            <a:endParaRPr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38695" y="740800"/>
            <a:ext cx="2808000" cy="1007600"/>
          </a:xfrm>
        </p:spPr>
        <p:txBody>
          <a:bodyPr/>
          <a:lstStyle/>
          <a:p>
            <a:r>
              <a:rPr sz="2800" b="1"/>
              <a:t>Introduction</a:t>
            </a:r>
            <a:endParaRPr sz="2800" b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85" y="1852930"/>
            <a:ext cx="8404225" cy="4755515"/>
          </a:xfrm>
        </p:spPr>
        <p:txBody>
          <a:bodyPr>
            <a:normAutofit/>
          </a:bodyPr>
          <a:lstStyle/>
          <a:p/>
          <a:p>
            <a:r>
              <a:rPr sz="2400"/>
              <a:t>Modern e-commerce platforms contain large catalogs that make product discovery difficult.</a:t>
            </a:r>
            <a:endParaRPr sz="2400"/>
          </a:p>
          <a:p>
            <a:r>
              <a:rPr sz="2400"/>
              <a:t>Recommendation systems analyze user behavior, item relations, and purchase patterns to deliver relevant suggestions.</a:t>
            </a:r>
            <a:endParaRPr sz="2400"/>
          </a:p>
          <a:p>
            <a:r>
              <a:rPr sz="2400"/>
              <a:t>We build a multi-model recommendation engine evaluating</a:t>
            </a:r>
            <a:r>
              <a:rPr lang="en-IN" sz="2400"/>
              <a:t> </a:t>
            </a:r>
            <a:r>
              <a:rPr sz="2400"/>
              <a:t>item similarity, and purchase associations to generate dynamic recommendations.</a:t>
            </a: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310" y="763905"/>
            <a:ext cx="7428230" cy="1089025"/>
          </a:xfrm>
        </p:spPr>
        <p:txBody>
          <a:bodyPr>
            <a:normAutofit/>
          </a:bodyPr>
          <a:lstStyle/>
          <a:p>
            <a:r>
              <a:rPr lang="en-IN" b="1"/>
              <a:t>             </a:t>
            </a:r>
            <a:r>
              <a:rPr b="1"/>
              <a:t>Objectives &amp; Problem Statement</a:t>
            </a:r>
            <a:endParaRPr b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85" y="1852930"/>
            <a:ext cx="8199120" cy="4239260"/>
          </a:xfrm>
        </p:spPr>
        <p:txBody>
          <a:bodyPr>
            <a:noAutofit/>
          </a:bodyPr>
          <a:lstStyle/>
          <a:p/>
          <a:p>
            <a:pPr marL="152400" indent="0">
              <a:buNone/>
            </a:pPr>
            <a:r>
              <a:rPr sz="2000" b="1"/>
              <a:t>Objectives:</a:t>
            </a:r>
            <a:endParaRPr sz="2000" b="1"/>
          </a:p>
          <a:p>
            <a:r>
              <a:rPr sz="2000"/>
              <a:t>Generate personalized product recommendations using ML models.</a:t>
            </a:r>
            <a:endParaRPr sz="2000"/>
          </a:p>
          <a:p>
            <a:r>
              <a:rPr sz="2000"/>
              <a:t>Implement similarity filtering, association rules, and RFM segmentation.</a:t>
            </a:r>
            <a:endParaRPr sz="2000"/>
          </a:p>
          <a:p>
            <a:r>
              <a:rPr sz="2000"/>
              <a:t>Compare models based on accuracy and scalability.</a:t>
            </a:r>
            <a:endParaRPr sz="2000"/>
          </a:p>
          <a:p>
            <a:r>
              <a:rPr sz="2000"/>
              <a:t>Create a front-end for dynamic recommendations.</a:t>
            </a:r>
            <a:endParaRPr sz="2000"/>
          </a:p>
          <a:p>
            <a:pPr marL="152400" indent="0">
              <a:buNone/>
            </a:pPr>
            <a:r>
              <a:rPr sz="2000" b="1"/>
              <a:t>Problem:</a:t>
            </a:r>
            <a:endParaRPr sz="2000" b="1"/>
          </a:p>
          <a:p>
            <a:r>
              <a:rPr sz="2000"/>
              <a:t>Users struggle to find relevant items; we design an ML-driven system analyzing behavior and transactions to provide accurate suggestions.</a:t>
            </a:r>
            <a:endParaRPr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24100" y="169545"/>
            <a:ext cx="5215890" cy="1007745"/>
          </a:xfrm>
        </p:spPr>
        <p:txBody>
          <a:bodyPr>
            <a:normAutofit/>
          </a:bodyPr>
          <a:lstStyle/>
          <a:p>
            <a:r>
              <a:rPr b="1"/>
              <a:t>Proposed Model – Methodology</a:t>
            </a:r>
            <a:endParaRPr b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85" y="2002155"/>
            <a:ext cx="8742045" cy="4090035"/>
          </a:xfrm>
        </p:spPr>
        <p:txBody>
          <a:bodyPr/>
          <a:lstStyle/>
          <a:p/>
          <a:p>
            <a:pPr marL="152400" indent="0">
              <a:buNone/>
            </a:pPr>
            <a:r>
              <a:rPr sz="2000" b="1"/>
              <a:t>Pipeline:</a:t>
            </a:r>
            <a:endParaRPr sz="2000" b="1"/>
          </a:p>
          <a:p>
            <a:r>
              <a:rPr sz="2000"/>
              <a:t>Data Collection: Products, users, transactions.</a:t>
            </a:r>
            <a:endParaRPr sz="2000"/>
          </a:p>
          <a:p>
            <a:r>
              <a:rPr sz="2000"/>
              <a:t>Preprocessing: Cleaning, encoding, normalization.</a:t>
            </a:r>
            <a:endParaRPr sz="2000"/>
          </a:p>
          <a:p>
            <a:r>
              <a:rPr sz="2000"/>
              <a:t>Feature Engineering: User vectors, item vectors, RFM values.</a:t>
            </a:r>
            <a:endParaRPr sz="2000"/>
          </a:p>
          <a:p>
            <a:pPr marL="152400" indent="0">
              <a:buNone/>
            </a:pPr>
            <a:r>
              <a:rPr sz="2000" b="1"/>
              <a:t>Model Pipelines:</a:t>
            </a:r>
            <a:endParaRPr sz="2000"/>
          </a:p>
          <a:p>
            <a:r>
              <a:rPr sz="2000"/>
              <a:t>Cosine Similarity + Deep Learning for similarity recommendations.</a:t>
            </a:r>
            <a:endParaRPr sz="2000"/>
          </a:p>
          <a:p>
            <a:r>
              <a:rPr sz="2000"/>
              <a:t>Apriori for 'Frequently Bought Together' rules.</a:t>
            </a:r>
            <a:endParaRPr sz="2000"/>
          </a:p>
          <a:p>
            <a:r>
              <a:rPr sz="2000"/>
              <a:t>RFM + K-means for customer segmentation.</a:t>
            </a:r>
            <a:endParaRPr sz="2000"/>
          </a:p>
          <a:p>
            <a:pPr marL="152400" indent="0">
              <a:buNone/>
            </a:pPr>
            <a:r>
              <a:rPr sz="2000" b="1"/>
              <a:t>Output:</a:t>
            </a:r>
            <a:endParaRPr sz="2000" b="1"/>
          </a:p>
          <a:p>
            <a:r>
              <a:rPr sz="2000"/>
              <a:t>Similar items, Associated items, Segment-based recommendations.</a:t>
            </a:r>
            <a:endParaRPr sz="2000"/>
          </a:p>
        </p:txBody>
      </p:sp>
      <p:pic>
        <p:nvPicPr>
          <p:cNvPr id="5" name="Picture 4" descr="diagram-export-24-11-2025-09_38_59"/>
          <p:cNvPicPr>
            <a:picLocks noChangeAspect="1"/>
          </p:cNvPicPr>
          <p:nvPr/>
        </p:nvPicPr>
        <p:blipFill>
          <a:blip r:embed="rId1"/>
          <a:srcRect l="14882" b="20846"/>
          <a:stretch>
            <a:fillRect/>
          </a:stretch>
        </p:blipFill>
        <p:spPr>
          <a:xfrm>
            <a:off x="64770" y="1346200"/>
            <a:ext cx="8989060" cy="51244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6835" y="-195580"/>
            <a:ext cx="7341235" cy="1007745"/>
          </a:xfrm>
        </p:spPr>
        <p:txBody>
          <a:bodyPr>
            <a:normAutofit/>
          </a:bodyPr>
          <a:lstStyle/>
          <a:p>
            <a:r>
              <a:rPr b="1"/>
              <a:t>Implementation Details (Algorithms)</a:t>
            </a:r>
            <a:endParaRPr b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85" y="2164715"/>
            <a:ext cx="8730615" cy="3927475"/>
          </a:xfrm>
        </p:spPr>
        <p:txBody>
          <a:bodyPr/>
          <a:lstStyle/>
          <a:p>
            <a:endParaRPr sz="2000"/>
          </a:p>
        </p:txBody>
      </p:sp>
      <p:pic>
        <p:nvPicPr>
          <p:cNvPr id="5" name="Picture 4" descr="diagram-export-24-11-2025-10_29_34"/>
          <p:cNvPicPr>
            <a:picLocks noChangeAspect="1"/>
          </p:cNvPicPr>
          <p:nvPr/>
        </p:nvPicPr>
        <p:blipFill>
          <a:blip r:embed="rId1"/>
          <a:srcRect b="6667"/>
          <a:stretch>
            <a:fillRect/>
          </a:stretch>
        </p:blipFill>
        <p:spPr>
          <a:xfrm>
            <a:off x="207645" y="1087120"/>
            <a:ext cx="4411345" cy="5770880"/>
          </a:xfrm>
          <a:prstGeom prst="rect">
            <a:avLst/>
          </a:prstGeom>
        </p:spPr>
      </p:pic>
      <p:pic>
        <p:nvPicPr>
          <p:cNvPr id="6" name="Picture 5" descr="diagram-export-24-11-2025-10_56_54"/>
          <p:cNvPicPr>
            <a:picLocks noChangeAspect="1"/>
          </p:cNvPicPr>
          <p:nvPr/>
        </p:nvPicPr>
        <p:blipFill>
          <a:blip r:embed="rId2"/>
          <a:srcRect b="10026"/>
          <a:stretch>
            <a:fillRect/>
          </a:stretch>
        </p:blipFill>
        <p:spPr>
          <a:xfrm>
            <a:off x="5017770" y="970915"/>
            <a:ext cx="4024630" cy="568134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0" y="1087120"/>
            <a:ext cx="173101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1600" b="1">
                <a:latin typeface="Calibri Light" panose="020F0302020204030204" charset="0"/>
                <a:cs typeface="Calibri Light" panose="020F0302020204030204" charset="0"/>
              </a:rPr>
              <a:t>Similar Product Reccomendation Model</a:t>
            </a:r>
            <a:endParaRPr lang="en-IN" altLang="en-US" sz="1600" b="1">
              <a:latin typeface="Calibri Light" panose="020F0302020204030204" charset="0"/>
              <a:cs typeface="Calibri Light" panose="020F0302020204030204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3547745" y="1087120"/>
            <a:ext cx="1900555" cy="832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IN" altLang="en-US" sz="1600" b="1">
                <a:latin typeface="Calibri" panose="020F0502020204030204" charset="0"/>
                <a:cs typeface="Calibri" panose="020F0502020204030204" charset="0"/>
              </a:rPr>
              <a:t>Frequently brought together model</a:t>
            </a:r>
            <a:endParaRPr lang="en-IN" altLang="en-US" sz="1600" b="1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8230" y="844940"/>
            <a:ext cx="2808000" cy="1007600"/>
          </a:xfrm>
        </p:spPr>
        <p:txBody>
          <a:bodyPr/>
          <a:lstStyle/>
          <a:p>
            <a:r>
              <a:rPr sz="3200" b="1"/>
              <a:t>Results</a:t>
            </a:r>
            <a:endParaRPr sz="3200" b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85" y="1852930"/>
            <a:ext cx="8695690" cy="4239260"/>
          </a:xfrm>
        </p:spPr>
        <p:txBody>
          <a:bodyPr>
            <a:normAutofit/>
          </a:bodyPr>
          <a:lstStyle/>
          <a:p/>
          <a:p>
            <a:pPr marL="152400" indent="0">
              <a:buNone/>
            </a:pPr>
            <a:r>
              <a:rPr sz="2000" b="1"/>
              <a:t>Expected outcomes:</a:t>
            </a:r>
            <a:endParaRPr sz="2000" b="1"/>
          </a:p>
          <a:p>
            <a:r>
              <a:rPr sz="2000"/>
              <a:t>Accurate personalized product recommendations.</a:t>
            </a:r>
            <a:endParaRPr sz="2000"/>
          </a:p>
          <a:p>
            <a:r>
              <a:rPr sz="2000"/>
              <a:t>Similar items list generated via cosine similarity.</a:t>
            </a:r>
            <a:endParaRPr sz="2000"/>
          </a:p>
          <a:p>
            <a:r>
              <a:rPr sz="2000"/>
              <a:t>Frequently Bought Together items from Apriori.</a:t>
            </a:r>
            <a:endParaRPr sz="2000"/>
          </a:p>
          <a:p>
            <a:r>
              <a:rPr sz="2000"/>
              <a:t>Customer clusters visualized from K-means.</a:t>
            </a:r>
            <a:endParaRPr sz="2000"/>
          </a:p>
          <a:p>
            <a:r>
              <a:rPr sz="2000"/>
              <a:t>Performance comparison of implemented models.</a:t>
            </a:r>
            <a:endParaRPr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68210" y="844940"/>
            <a:ext cx="2808000" cy="1007600"/>
          </a:xfrm>
        </p:spPr>
        <p:txBody>
          <a:bodyPr/>
          <a:lstStyle/>
          <a:p>
            <a:r>
              <a:rPr sz="2800" b="1"/>
              <a:t>Conclusion</a:t>
            </a:r>
            <a:endParaRPr sz="2800" b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85" y="1852930"/>
            <a:ext cx="8718550" cy="4239260"/>
          </a:xfrm>
        </p:spPr>
        <p:txBody>
          <a:bodyPr/>
          <a:lstStyle/>
          <a:p>
            <a:endParaRPr sz="2400"/>
          </a:p>
          <a:p>
            <a:r>
              <a:rPr sz="2400"/>
              <a:t>The system successfully integrates multiple ML models to generate personalized recommendations.</a:t>
            </a:r>
            <a:endParaRPr sz="2400"/>
          </a:p>
          <a:p>
            <a:r>
              <a:rPr sz="2400"/>
              <a:t>Combining similarity matching, association rules, and RFM segmentation makes the system scalable and accurate.</a:t>
            </a:r>
            <a:endParaRPr sz="2400"/>
          </a:p>
          <a:p>
            <a:r>
              <a:rPr sz="2400"/>
              <a:t>Future work: UI integration, deep learning optimization, real-time deployment.</a:t>
            </a:r>
            <a:endParaRPr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78e6671419f8a2a0_42"/>
          <p:cNvSpPr txBox="1"/>
          <p:nvPr/>
        </p:nvSpPr>
        <p:spPr>
          <a:xfrm>
            <a:off x="628650" y="1131097"/>
            <a:ext cx="7886700" cy="99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GB" sz="21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REFERENCES</a:t>
            </a:r>
            <a:endParaRPr sz="21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370205" y="2677795"/>
            <a:ext cx="8288020" cy="38741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000"/>
              <a:t>1.Zhang et al. (2020), Deep Learning-Based Recommender Systems Review.</a:t>
            </a:r>
            <a:endParaRPr lang="en-US" altLang="en-US" sz="2000"/>
          </a:p>
          <a:p>
            <a:r>
              <a:rPr lang="en-US" altLang="en-US" sz="2000"/>
              <a:t> </a:t>
            </a:r>
            <a:r>
              <a:rPr lang="en-IN" altLang="en-US" sz="2000"/>
              <a:t>            </a:t>
            </a:r>
            <a:endParaRPr lang="en-US" altLang="en-US" sz="2000"/>
          </a:p>
          <a:p>
            <a:r>
              <a:rPr lang="en-US" altLang="en-US" sz="2000"/>
              <a:t>2.Zhou et al. (2021), KNN-based Recommendation for E-commerce, Sensors.</a:t>
            </a:r>
            <a:endParaRPr lang="en-US" altLang="en-US" sz="2000"/>
          </a:p>
          <a:p>
            <a:r>
              <a:rPr lang="en-US" altLang="en-US" sz="2000"/>
              <a:t>3.Patel et al. (2022), Market Basket Analysis using Apriori Algorithm, </a:t>
            </a:r>
            <a:endParaRPr lang="en-US" altLang="en-US" sz="2000"/>
          </a:p>
          <a:p>
            <a:r>
              <a:rPr lang="en-US" altLang="en-US" sz="2000"/>
              <a:t>4.Amazon Research (2025), Amazon Recommendation Engine Overview, </a:t>
            </a:r>
            <a:endParaRPr lang="en-US" altLang="en-US" sz="2000"/>
          </a:p>
          <a:p>
            <a:r>
              <a:rPr lang="en-US" altLang="en-US" sz="2000"/>
              <a:t>5.P. Anitha, Malini M.Patil(2022), RFM model for customer purchase behavior using K-Means algorithm.</a:t>
            </a:r>
            <a:endParaRPr lang="en-US" altLang="en-US" sz="2000"/>
          </a:p>
          <a:p>
            <a:endParaRPr lang="en-US"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1"/>
          <p:cNvSpPr txBox="1"/>
          <p:nvPr/>
        </p:nvSpPr>
        <p:spPr>
          <a:xfrm>
            <a:off x="1610325" y="2832109"/>
            <a:ext cx="5829300" cy="87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>
              <a:lnSpc>
                <a:spcPct val="90000"/>
              </a:lnSpc>
              <a:buSzPts val="5200"/>
            </a:pPr>
            <a:r>
              <a:rPr lang="en-GB" sz="39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Thank You!</a:t>
            </a:r>
            <a:endParaRPr sz="1650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7_Theme1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3299</Words>
  <Application>WPS Presentation</Application>
  <PresentationFormat>On-screen Show (4:3)</PresentationFormat>
  <Paragraphs>99</Paragraphs>
  <Slides>11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3" baseType="lpstr">
      <vt:lpstr>Arial</vt:lpstr>
      <vt:lpstr>SimSun</vt:lpstr>
      <vt:lpstr>Wingdings</vt:lpstr>
      <vt:lpstr>Arial</vt:lpstr>
      <vt:lpstr>Verdana</vt:lpstr>
      <vt:lpstr>Times New Roman</vt:lpstr>
      <vt:lpstr>Times New Roman</vt:lpstr>
      <vt:lpstr>Microsoft YaHei</vt:lpstr>
      <vt:lpstr>Arial Unicode MS</vt:lpstr>
      <vt:lpstr>Calibri Light</vt:lpstr>
      <vt:lpstr>Calibri</vt:lpstr>
      <vt:lpstr>1_Simple Light</vt:lpstr>
      <vt:lpstr>PowerPoint 演示文稿</vt:lpstr>
      <vt:lpstr>PowerPoint 演示文稿</vt:lpstr>
      <vt:lpstr>Abstract</vt:lpstr>
      <vt:lpstr>Introduction</vt:lpstr>
      <vt:lpstr>             Objectives &amp; Problem Statement</vt:lpstr>
      <vt:lpstr>Proposed Model – Methodology</vt:lpstr>
      <vt:lpstr>Implementation Details (Algorithms)</vt:lpstr>
      <vt:lpstr>Results</vt:lpstr>
      <vt:lpstr>Conclusion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harsh gupta</cp:lastModifiedBy>
  <cp:revision>25</cp:revision>
  <cp:lastPrinted>2024-09-27T04:20:00Z</cp:lastPrinted>
  <dcterms:created xsi:type="dcterms:W3CDTF">2023-10-20T09:46:00Z</dcterms:created>
  <dcterms:modified xsi:type="dcterms:W3CDTF">2025-11-24T05:39:43Z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C87EB3968CA24700AF632C6E9808BCA1_12</vt:lpwstr>
  </property>
  <property fmtid="{D5CDD505-2E9C-101B-9397-08002B2CF9AE}" pid="3" name="KSOProductBuildVer">
    <vt:lpwstr>1033-12.2.0.23158</vt:lpwstr>
  </property>
</Properties>
</file>